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256" r:id="rId2"/>
    <p:sldId id="727" r:id="rId3"/>
    <p:sldId id="829" r:id="rId4"/>
    <p:sldId id="733" r:id="rId5"/>
    <p:sldId id="734" r:id="rId6"/>
    <p:sldId id="729" r:id="rId7"/>
    <p:sldId id="1763" r:id="rId8"/>
    <p:sldId id="260" r:id="rId9"/>
    <p:sldId id="258" r:id="rId10"/>
    <p:sldId id="257" r:id="rId11"/>
    <p:sldId id="259" r:id="rId12"/>
    <p:sldId id="261" r:id="rId13"/>
    <p:sldId id="262" r:id="rId14"/>
    <p:sldId id="263" r:id="rId15"/>
    <p:sldId id="26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66328" autoAdjust="0"/>
  </p:normalViewPr>
  <p:slideViewPr>
    <p:cSldViewPr snapToGrid="0">
      <p:cViewPr varScale="1">
        <p:scale>
          <a:sx n="63" d="100"/>
          <a:sy n="63" d="100"/>
        </p:scale>
        <p:origin x="141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A97B5F-47C8-4844-8B07-C1CC1E41C5CE}" type="datetimeFigureOut">
              <a:rPr lang="en-IN" smtClean="0"/>
              <a:t>09-06-2024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D33E7D-5863-4D23-9B37-3BEBAAED63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740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Decision Trees were </a:t>
            </a:r>
            <a:r>
              <a:rPr lang="en-US" b="1" dirty="0"/>
              <a:t>introduced</a:t>
            </a:r>
            <a:r>
              <a:rPr lang="en-US" dirty="0"/>
              <a:t> in 1963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Decision trees </a:t>
            </a:r>
            <a:r>
              <a:rPr lang="en-US" b="1" dirty="0"/>
              <a:t>can be used for both </a:t>
            </a:r>
            <a:r>
              <a:rPr lang="en-US" dirty="0"/>
              <a:t>regression and classification problems.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Decision trees </a:t>
            </a:r>
            <a:r>
              <a:rPr lang="en-US" b="1" dirty="0"/>
              <a:t>are robust, easy to implement, understand and interpret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The Department of Statistics at the University of Wisconsin–Madison writes: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0" dirty="0"/>
              <a:t>that </a:t>
            </a:r>
            <a:r>
              <a:rPr lang="en-US" b="1" dirty="0"/>
              <a:t>the first decision tree regression</a:t>
            </a:r>
            <a:r>
              <a:rPr lang="en-US" b="0" dirty="0"/>
              <a:t> was invented in </a:t>
            </a:r>
            <a:r>
              <a:rPr lang="en-US" b="1" dirty="0"/>
              <a:t>1963</a:t>
            </a:r>
            <a:r>
              <a:rPr lang="en-US" b="0" dirty="0"/>
              <a:t> (AID project, Morgan and Sonquist).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670E17A5-503D-AF40-9446-B33EB8126F24}" type="slidenum">
              <a:rPr lang="en-US" smtClean="0">
                <a:uFillTx/>
              </a:rPr>
              <a:pPr>
                <a:defRPr>
                  <a:uFillTx/>
                </a:defRPr>
              </a:pPr>
              <a:t>2</a:t>
            </a:fld>
            <a:endParaRPr lang="en-US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8713233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Decision trees are </a:t>
            </a:r>
            <a:r>
              <a:rPr lang="en-US" b="1" dirty="0"/>
              <a:t>easy to follow </a:t>
            </a:r>
            <a:r>
              <a:rPr lang="en-US" dirty="0"/>
              <a:t>and </a:t>
            </a:r>
            <a:r>
              <a:rPr lang="en-US" b="1" dirty="0"/>
              <a:t>easy to construct </a:t>
            </a:r>
            <a:r>
              <a:rPr lang="en-US" dirty="0"/>
              <a:t>since they follow and mimic how we humans think (logical)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flowchart structure </a:t>
            </a:r>
            <a:r>
              <a:rPr lang="en-US" dirty="0"/>
              <a:t>helps the designer: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Understand the different decisions taken by the ML algorithm.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Interpret the results obtained ..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tree has </a:t>
            </a:r>
            <a:r>
              <a:rPr lang="en-US" b="1" dirty="0"/>
              <a:t>different types of nodes </a:t>
            </a:r>
            <a:r>
              <a:rPr lang="en-US" dirty="0"/>
              <a:t>and a certain depth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670E17A5-503D-AF40-9446-B33EB8126F24}" type="slidenum">
              <a:rPr lang="en-US" smtClean="0">
                <a:uFillTx/>
              </a:rPr>
              <a:pPr>
                <a:defRPr>
                  <a:uFillTx/>
                </a:defRPr>
              </a:pPr>
              <a:t>3</a:t>
            </a:fld>
            <a:endParaRPr lang="en-US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8681753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very top node in the tree is the “</a:t>
            </a:r>
            <a:r>
              <a:rPr lang="en-US" b="1" dirty="0"/>
              <a:t>Root Node</a:t>
            </a:r>
            <a:r>
              <a:rPr lang="en-US" dirty="0"/>
              <a:t>”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It is a very important Node since splitting the tree optimally at this stage makes the tree a better ML algorithm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is </a:t>
            </a:r>
            <a:r>
              <a:rPr lang="en-US" b="1" dirty="0"/>
              <a:t>part of the learning that occurs in the Tree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670E17A5-503D-AF40-9446-B33EB8126F24}" type="slidenum">
              <a:rPr lang="en-US" smtClean="0">
                <a:uFillTx/>
              </a:rPr>
              <a:pPr>
                <a:defRPr>
                  <a:uFillTx/>
                </a:defRPr>
              </a:pPr>
              <a:t>4</a:t>
            </a:fld>
            <a:endParaRPr lang="en-US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23435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Internal Nodes are the Decision Nodes that further split the tree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terminal nodes are called Leaf Nodes and these nodes have the class answer of the records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670E17A5-503D-AF40-9446-B33EB8126F24}" type="slidenum">
              <a:rPr lang="en-US" smtClean="0">
                <a:uFillTx/>
              </a:rPr>
              <a:pPr>
                <a:defRPr>
                  <a:uFillTx/>
                </a:defRPr>
              </a:pPr>
              <a:t>5</a:t>
            </a:fld>
            <a:endParaRPr lang="en-US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7666165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#1, shows how a tree is built based on the features available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uFillTx/>
              </a:defRPr>
            </a:pPr>
            <a:fld id="{670E17A5-503D-AF40-9446-B33EB8126F2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uFillTx/>
                </a:defRPr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80885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 start to build the tree by </a:t>
            </a:r>
            <a:r>
              <a:rPr lang="en-US" b="1" dirty="0"/>
              <a:t>checking all the features </a:t>
            </a:r>
            <a:r>
              <a:rPr lang="en-US" dirty="0"/>
              <a:t>and how well they split the tree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By looking at </a:t>
            </a:r>
            <a:r>
              <a:rPr lang="en-US" b="1" dirty="0"/>
              <a:t>one of the measures used to split trees </a:t>
            </a:r>
            <a:r>
              <a:rPr lang="en-US" dirty="0"/>
              <a:t>we find that “Outlook” is the best feature to use at the Root.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some cases we end up with a leaf (such as Overcast) since there is always a single outcome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next feature chosen on the left hand side is “Humidity” since it gives the best split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Complete tree constructed from the data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uFillTx/>
              </a:defRPr>
            </a:pPr>
            <a:fld id="{670E17A5-503D-AF40-9446-B33EB8126F2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uFillTx/>
                </a:defRPr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12717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D33E7D-5863-4D23-9B37-3BEBAAED6310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7191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D6D5B-183B-5E34-76AC-1644A38CEB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93EE52-1DC8-4018-8E5A-002C81AD30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C2DF4-B46C-6083-89F5-7770F8F0F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9D5CF-3E17-491F-BA1D-B62D572DA788}" type="datetime1">
              <a:rPr lang="en-IN" smtClean="0"/>
              <a:t>09-06-2024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9052F-FDF8-5007-9921-452CBC90C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F8D62-1072-8796-6953-0DEA4BB75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63A2-8410-4290-AC7F-71ED325F0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9355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CF73E-B9EF-7B68-73A5-635E106E7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A5C68-7A76-1DBF-4766-FF5A9E75F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418867-F6C1-6079-6D87-37E783CE5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5053F-B7EA-42DD-B45B-0C0AB0483939}" type="datetime1">
              <a:rPr lang="en-IN" smtClean="0"/>
              <a:t>09-06-2024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84939-5B24-09E5-F8FC-39577B24E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63D35-24A1-F035-F64A-312F20154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63A2-8410-4290-AC7F-71ED325F0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013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5A22D-DD19-5E91-14D7-BF4F3EF55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A7D245-81D1-7454-9D17-FACBAE135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15D1C-912E-9510-3AE4-8CEC00C0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0A095-008B-4578-92DB-35A2CFDC6D1F}" type="datetime1">
              <a:rPr lang="en-IN" smtClean="0"/>
              <a:t>09-06-2024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2870D-E4F6-538B-721D-C57BF42C7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81F3C-6BA9-FE87-FC13-2BE80585E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63A2-8410-4290-AC7F-71ED325F0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022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ECA1C-7782-5885-C9D8-87F8CAF62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17357-9EBB-516B-D715-45A7DCE1AD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ED8108-22B3-CB64-2302-C7D2C1E7D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0BF51-5234-E852-21FB-78A3DCDFE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C6E81-06C7-402D-81F0-DFCB8E84D287}" type="datetime1">
              <a:rPr lang="en-IN" smtClean="0"/>
              <a:t>09-06-2024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70CD01-8A2F-27EB-60D7-822884F70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733334-5E3D-7A1D-C3D0-4EFE663B6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63A2-8410-4290-AC7F-71ED325F0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60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E10EC-49CB-ACE4-21AE-4CBE42AF3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47A45-FA0A-5639-967B-4948751CF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38F7EA-2808-C144-0F62-62113BE0D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351235-5274-8F50-6FB4-97020ADA26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90C12F-85CA-D583-2344-B425434032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AF24C1-67F6-5C79-859E-B3BECD972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BBF9B-F6F8-44D0-946F-8F91E9910F5D}" type="datetime1">
              <a:rPr lang="en-IN" smtClean="0"/>
              <a:t>09-06-2024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A6157C-87E1-3A36-4CD5-79A2DFFA6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9BFC80-DEF5-9EEA-A46C-62566DF0A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63A2-8410-4290-AC7F-71ED325F0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501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8533C-DC63-9C00-FD46-7C7FFFD28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D24CAF-6534-5E94-4B42-59E930EFD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2E84F-CC32-412E-8568-142DA55997A8}" type="datetime1">
              <a:rPr lang="en-IN" smtClean="0"/>
              <a:t>09-06-2024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B189ED-6B44-6C65-1069-3B8A95F33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8813F7-BC3B-C2A4-B702-E90D3587C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63A2-8410-4290-AC7F-71ED325F0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7468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756F87-3714-F673-5506-36F4946B0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41A3-9133-4824-99D5-C0F52038525F}" type="datetime1">
              <a:rPr lang="en-IN" smtClean="0"/>
              <a:t>09-06-2024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D0A131-00E9-D346-2A5E-01BCA281D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2D231-9253-4804-0EB0-9F1225015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63A2-8410-4290-AC7F-71ED325F0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135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703F6-F6FA-0EA3-A188-31552AA5E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4306D-5160-E68C-D5F4-175A0E5B7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CE5F7A-A2D8-F43E-B964-09DF08C63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D5AD44-548F-5DAD-CFFF-22FE6A0F2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14B09-9343-4F28-8F34-E57BA61300A4}" type="datetime1">
              <a:rPr lang="en-IN" smtClean="0"/>
              <a:t>09-06-2024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9E9E8-F1D1-3C66-E45D-337BA3556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943575-DC0E-2B2E-45CF-F2C048C1B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63A2-8410-4290-AC7F-71ED325F0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461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70D60-9F2C-847D-1ADA-9F5927804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4E33E7-A5F2-9FC9-6C6B-D89F42DFC9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E31A74-0622-AAB9-8888-8FDB6FC780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CD5E9-E5E8-AB1E-13C5-A2697F6AE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73733-5F24-43A2-B20F-7AE9893A75A0}" type="datetime1">
              <a:rPr lang="en-IN" smtClean="0"/>
              <a:t>09-06-2024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50DDA4-04DF-C8A4-EB7D-03632F40B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343F2A-CB62-8371-8433-56CC7976E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63A2-8410-4290-AC7F-71ED325F0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414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BC26C-4B30-4841-4E37-BCC23A0D7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5E1A35-4697-7BB0-79A9-9E61BFFF20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1C10B-51C1-EF32-82D8-BB29A0669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7D949-4D0B-41CF-AE64-99DC3D24529D}" type="datetime1">
              <a:rPr lang="en-IN" smtClean="0"/>
              <a:t>09-06-2024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6262A-5C35-A21B-CB5D-0C7716972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0F70C-5722-DA4D-3854-97518B828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63A2-8410-4290-AC7F-71ED325F0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243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AD00A0-C80B-F593-B603-A9BF62E5F3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3912CB-1BF1-3938-3300-9F4DEA8123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06069-4E8D-80F3-4BB8-3E259BF42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CCF2-500A-41F8-A18E-60903573C8E2}" type="datetime1">
              <a:rPr lang="en-IN" smtClean="0"/>
              <a:t>09-06-2024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D3595-D3A0-FE71-F9D1-C4B4B360B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6A24B-8362-E7D9-CD79-ED3C02C5B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63A2-8410-4290-AC7F-71ED325F0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860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3E27ED-C50B-01BA-9315-3DEED7B0B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566345-1170-7E58-E776-98E0B045F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1F797-D0A0-F0BF-2908-4DF1072CEB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874842-F3FD-42F7-A587-D2F002F762B7}" type="datetime1">
              <a:rPr lang="en-IN" smtClean="0"/>
              <a:t>09-06-2024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070C6-FFBB-722B-FDF1-FA5BD6EA5D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CC39C-11C3-E494-3984-12417D504F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2B63A2-8410-4290-AC7F-71ED325F0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501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DFB59-7D42-217F-7751-588D53E0B4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Decision Tree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5EDFB-6D9D-BA62-922F-2CA12BA4BA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Prof Manish Patel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6411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71570C14-1F58-475D-8EBA-2CA7EB2831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9144000" cy="609600"/>
          </a:xfrm>
        </p:spPr>
        <p:txBody>
          <a:bodyPr>
            <a:normAutofit fontScale="90000"/>
          </a:bodyPr>
          <a:lstStyle/>
          <a:p>
            <a:r>
              <a:rPr lang="en-US" altLang="en-US" sz="5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Decision Trees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7A6A0D1D-F110-4C95-8C71-C8D66435BC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95450" y="3429000"/>
            <a:ext cx="4248150" cy="3048000"/>
          </a:xfrm>
        </p:spPr>
        <p:txBody>
          <a:bodyPr>
            <a:normAutofit lnSpcReduction="10000"/>
          </a:bodyPr>
          <a:lstStyle/>
          <a:p>
            <a:r>
              <a:rPr lang="en-US" altLang="en-US" sz="2400" i="1" dirty="0">
                <a:latin typeface="Comic Sans MS" panose="030F0702030302020204" pitchFamily="66" charset="0"/>
              </a:rPr>
              <a:t>Decision Trees</a:t>
            </a:r>
          </a:p>
          <a:p>
            <a:r>
              <a:rPr lang="en-US" altLang="en-US" sz="2400" dirty="0">
                <a:solidFill>
                  <a:srgbClr val="0000FF"/>
                </a:solidFill>
                <a:latin typeface="Comic Sans MS" panose="030F0702030302020204" pitchFamily="66" charset="0"/>
              </a:rPr>
              <a:t>Rule-based induction</a:t>
            </a:r>
          </a:p>
          <a:p>
            <a:r>
              <a:rPr lang="en-US" altLang="en-US" sz="2400" dirty="0">
                <a:solidFill>
                  <a:srgbClr val="0000FF"/>
                </a:solidFill>
                <a:latin typeface="Comic Sans MS" panose="030F0702030302020204" pitchFamily="66" charset="0"/>
              </a:rPr>
              <a:t>Neural networks</a:t>
            </a:r>
          </a:p>
          <a:p>
            <a:r>
              <a:rPr lang="en-US" altLang="en-US" sz="2400" dirty="0">
                <a:solidFill>
                  <a:srgbClr val="00B050"/>
                </a:solidFill>
                <a:latin typeface="Comic Sans MS" panose="030F0702030302020204" pitchFamily="66" charset="0"/>
              </a:rPr>
              <a:t>K-Nearest Neighbor </a:t>
            </a:r>
          </a:p>
          <a:p>
            <a:r>
              <a:rPr lang="en-US" altLang="en-US" sz="2400" dirty="0">
                <a:solidFill>
                  <a:srgbClr val="0000FF"/>
                </a:solidFill>
                <a:latin typeface="Comic Sans MS" panose="030F0702030302020204" pitchFamily="66" charset="0"/>
              </a:rPr>
              <a:t>Random Forests</a:t>
            </a:r>
          </a:p>
          <a:p>
            <a:r>
              <a:rPr lang="en-US" altLang="en-US" sz="2400" dirty="0">
                <a:solidFill>
                  <a:srgbClr val="0000FF"/>
                </a:solidFill>
                <a:latin typeface="Comic Sans MS" panose="030F0702030302020204" pitchFamily="66" charset="0"/>
              </a:rPr>
              <a:t>Bayesian networks</a:t>
            </a:r>
          </a:p>
          <a:p>
            <a:r>
              <a:rPr lang="en-US" altLang="en-US" sz="2400" dirty="0">
                <a:solidFill>
                  <a:srgbClr val="0000FF"/>
                </a:solidFill>
                <a:latin typeface="Comic Sans MS" panose="030F0702030302020204" pitchFamily="66" charset="0"/>
              </a:rPr>
              <a:t>Support Vector Machines</a:t>
            </a:r>
          </a:p>
        </p:txBody>
      </p:sp>
      <p:sp>
        <p:nvSpPr>
          <p:cNvPr id="49156" name="Text Box 4">
            <a:extLst>
              <a:ext uri="{FF2B5EF4-FFF2-40B4-BE49-F238E27FC236}">
                <a16:creationId xmlns:a16="http://schemas.microsoft.com/office/drawing/2014/main" id="{8E9589F1-9FC0-40EA-8081-33C815B31D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8500" y="1033602"/>
            <a:ext cx="83820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en-GB" altLang="en-US" dirty="0">
                <a:solidFill>
                  <a:srgbClr val="0000FF"/>
                </a:solidFill>
                <a:latin typeface="Times "/>
              </a:rPr>
              <a:t>Introduced </a:t>
            </a:r>
            <a:r>
              <a:rPr lang="en-GB" altLang="en-US" u="sng" dirty="0">
                <a:latin typeface="Comic Sans MS" panose="030F0702030302020204" pitchFamily="66" charset="0"/>
              </a:rPr>
              <a:t>in the early 60’s </a:t>
            </a:r>
            <a:r>
              <a:rPr lang="en-GB" altLang="en-US" dirty="0">
                <a:solidFill>
                  <a:srgbClr val="0000FF"/>
                </a:solidFill>
                <a:latin typeface="Times "/>
              </a:rPr>
              <a:t>by Morgan &amp; Sonquist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en-GB" altLang="en-US" dirty="0">
                <a:latin typeface="Comic Sans MS" panose="030F0702030302020204" pitchFamily="66" charset="0"/>
              </a:rPr>
              <a:t>DTs</a:t>
            </a:r>
            <a:r>
              <a:rPr lang="en-GB" altLang="en-US" dirty="0">
                <a:solidFill>
                  <a:srgbClr val="0000FF"/>
                </a:solidFill>
                <a:latin typeface="Times "/>
              </a:rPr>
              <a:t> can be </a:t>
            </a:r>
            <a:r>
              <a:rPr lang="en-GB" altLang="en-US" u="sng" dirty="0">
                <a:solidFill>
                  <a:srgbClr val="0000FF"/>
                </a:solidFill>
                <a:latin typeface="Comic Sans MS" panose="030F0702030302020204" pitchFamily="66" charset="0"/>
              </a:rPr>
              <a:t>used for both</a:t>
            </a:r>
            <a:r>
              <a:rPr lang="en-GB" altLang="en-US" dirty="0">
                <a:solidFill>
                  <a:srgbClr val="0000FF"/>
                </a:solidFill>
                <a:latin typeface="Comic Sans MS" panose="030F0702030302020204" pitchFamily="66" charset="0"/>
              </a:rPr>
              <a:t> </a:t>
            </a:r>
            <a:r>
              <a:rPr lang="en-GB" altLang="en-US" u="sng" dirty="0">
                <a:latin typeface="Comic Sans MS" panose="030F0702030302020204" pitchFamily="66" charset="0"/>
              </a:rPr>
              <a:t>classification and regression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en-GB" altLang="en-US" dirty="0">
                <a:latin typeface="Comic Sans MS" panose="030F0702030302020204" pitchFamily="66" charset="0"/>
              </a:rPr>
              <a:t>DTs</a:t>
            </a:r>
            <a:r>
              <a:rPr lang="en-GB" altLang="en-US" dirty="0">
                <a:solidFill>
                  <a:srgbClr val="0000FF"/>
                </a:solidFill>
                <a:latin typeface="Comic Sans MS" panose="030F0702030302020204" pitchFamily="66" charset="0"/>
              </a:rPr>
              <a:t> are </a:t>
            </a:r>
            <a:r>
              <a:rPr lang="en-GB" altLang="en-US" u="sng" dirty="0">
                <a:latin typeface="Comic Sans MS" panose="030F0702030302020204" pitchFamily="66" charset="0"/>
              </a:rPr>
              <a:t>rule based</a:t>
            </a:r>
            <a:r>
              <a:rPr lang="en-GB" altLang="en-US" dirty="0">
                <a:latin typeface="Comic Sans MS" panose="030F0702030302020204" pitchFamily="66" charset="0"/>
              </a:rPr>
              <a:t> </a:t>
            </a:r>
            <a:r>
              <a:rPr lang="en-GB" altLang="en-US" dirty="0">
                <a:solidFill>
                  <a:srgbClr val="0000FF"/>
                </a:solidFill>
                <a:latin typeface="Comic Sans MS" panose="030F0702030302020204" pitchFamily="66" charset="0"/>
              </a:rPr>
              <a:t>methods.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en-GB" altLang="en-US" dirty="0">
                <a:solidFill>
                  <a:srgbClr val="0000FF"/>
                </a:solidFill>
                <a:latin typeface="Comic Sans MS" panose="030F0702030302020204" pitchFamily="66" charset="0"/>
              </a:rPr>
              <a:t>Easy to </a:t>
            </a:r>
            <a:r>
              <a:rPr lang="en-GB" altLang="en-US" dirty="0">
                <a:latin typeface="Comic Sans MS" panose="030F0702030302020204" pitchFamily="66" charset="0"/>
              </a:rPr>
              <a:t>understand</a:t>
            </a:r>
            <a:r>
              <a:rPr lang="en-GB" altLang="en-US" dirty="0">
                <a:solidFill>
                  <a:srgbClr val="00B050"/>
                </a:solidFill>
                <a:latin typeface="Comic Sans MS" panose="030F0702030302020204" pitchFamily="66" charset="0"/>
              </a:rPr>
              <a:t> </a:t>
            </a:r>
            <a:r>
              <a:rPr lang="en-GB" altLang="en-US" dirty="0">
                <a:solidFill>
                  <a:srgbClr val="0000FF"/>
                </a:solidFill>
                <a:latin typeface="Times "/>
              </a:rPr>
              <a:t>and </a:t>
            </a:r>
            <a:r>
              <a:rPr lang="en-GB" altLang="en-US" dirty="0">
                <a:latin typeface="Comic Sans MS" panose="030F0702030302020204" pitchFamily="66" charset="0"/>
              </a:rPr>
              <a:t>interpret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endParaRPr lang="en-GB" altLang="en-US" sz="1600" dirty="0">
              <a:solidFill>
                <a:srgbClr val="0000FF"/>
              </a:solidFill>
              <a:latin typeface="Times "/>
            </a:endParaRPr>
          </a:p>
        </p:txBody>
      </p:sp>
      <p:sp>
        <p:nvSpPr>
          <p:cNvPr id="49157" name="Text Box 5">
            <a:extLst>
              <a:ext uri="{FF2B5EF4-FFF2-40B4-BE49-F238E27FC236}">
                <a16:creationId xmlns:a16="http://schemas.microsoft.com/office/drawing/2014/main" id="{C3DD7F12-4FD2-4D9F-863E-F5A889C85C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911017"/>
            <a:ext cx="32528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GB" altLang="en-US" b="1" i="1" dirty="0">
                <a:solidFill>
                  <a:srgbClr val="000000"/>
                </a:solidFill>
                <a:latin typeface="Comic Sans MS" panose="030F0702030302020204" pitchFamily="66" charset="0"/>
              </a:rPr>
              <a:t>Typical Algorithms:</a:t>
            </a:r>
            <a:r>
              <a:rPr lang="en-GB" altLang="en-US" sz="2000" b="1" i="1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altLang="en-US" sz="1600" i="1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F05C8084-8C67-48A6-BDCD-C7DA42379B58}"/>
              </a:ext>
            </a:extLst>
          </p:cNvPr>
          <p:cNvSpPr txBox="1">
            <a:spLocks/>
          </p:cNvSpPr>
          <p:nvPr/>
        </p:nvSpPr>
        <p:spPr bwMode="auto">
          <a:xfrm>
            <a:off x="8763000" y="66294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0" latinLnBrk="0" hangingPunct="0">
              <a:defRPr sz="10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0202EFB-9B50-4085-8064-1CD2E769E676}" type="slidenum">
              <a:rPr lang="en-US" altLang="en-US" sz="1200">
                <a:solidFill>
                  <a:srgbClr val="000000"/>
                </a:solidFill>
              </a:rPr>
              <a:pPr algn="r">
                <a:defRPr/>
              </a:pPr>
              <a:t>2</a:t>
            </a:fld>
            <a:endParaRPr lang="en-US" altLang="en-US" sz="1200" dirty="0">
              <a:solidFill>
                <a:srgbClr val="000000"/>
              </a:solidFill>
            </a:endParaRPr>
          </a:p>
        </p:txBody>
      </p:sp>
      <p:pic>
        <p:nvPicPr>
          <p:cNvPr id="4098" name="Picture 2" descr="Image result for machine learning algorithms">
            <a:extLst>
              <a:ext uri="{FF2B5EF4-FFF2-40B4-BE49-F238E27FC236}">
                <a16:creationId xmlns:a16="http://schemas.microsoft.com/office/drawing/2014/main" id="{EB80B509-354E-4055-AC25-FF6EDADD53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3592512"/>
            <a:ext cx="4572000" cy="2884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B3DE03B8-66E3-4A29-9CE4-D2FC75703217}"/>
              </a:ext>
            </a:extLst>
          </p:cNvPr>
          <p:cNvSpPr/>
          <p:nvPr/>
        </p:nvSpPr>
        <p:spPr bwMode="auto">
          <a:xfrm>
            <a:off x="9048750" y="4724400"/>
            <a:ext cx="1143000" cy="8382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3733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uiExpand="1" build="p"/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E9C2514-FBEC-4126-9EA2-1CE14A6AC2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1" y="1"/>
            <a:ext cx="9143999" cy="774251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5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Decision Trees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C88708-3C22-4410-8C09-6134624E612A}"/>
              </a:ext>
            </a:extLst>
          </p:cNvPr>
          <p:cNvSpPr txBox="1">
            <a:spLocks/>
          </p:cNvSpPr>
          <p:nvPr/>
        </p:nvSpPr>
        <p:spPr bwMode="auto">
          <a:xfrm>
            <a:off x="8763000" y="66294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0" latinLnBrk="0" hangingPunct="0">
              <a:defRPr sz="10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0202EFB-9B50-4085-8064-1CD2E769E676}" type="slidenum">
              <a:rPr lang="en-US" altLang="en-US" sz="1200">
                <a:solidFill>
                  <a:srgbClr val="000000"/>
                </a:solidFill>
              </a:rPr>
              <a:pPr algn="r">
                <a:defRPr/>
              </a:pPr>
              <a:t>3</a:t>
            </a:fld>
            <a:endParaRPr lang="en-US" altLang="en-US" sz="1200" dirty="0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EF5CCE-BCE5-4707-9F40-B87B54C1A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200" y="3846385"/>
            <a:ext cx="5638800" cy="28670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F0B2B2-C885-4D29-8F3C-B6E06E79C907}"/>
              </a:ext>
            </a:extLst>
          </p:cNvPr>
          <p:cNvSpPr txBox="1"/>
          <p:nvPr/>
        </p:nvSpPr>
        <p:spPr>
          <a:xfrm>
            <a:off x="1524001" y="748674"/>
            <a:ext cx="9143998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FF"/>
                </a:solidFill>
                <a:latin typeface="Times "/>
              </a:rPr>
              <a:t>A </a:t>
            </a:r>
            <a:r>
              <a:rPr lang="en-US" sz="2200" u="sng" dirty="0">
                <a:latin typeface="Comic Sans MS" panose="030F0702030302020204" pitchFamily="66" charset="0"/>
              </a:rPr>
              <a:t>decision tree</a:t>
            </a:r>
            <a:r>
              <a:rPr lang="en-US" sz="2200" dirty="0">
                <a:latin typeface="Comic Sans MS" panose="030F0702030302020204" pitchFamily="66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Times "/>
              </a:rPr>
              <a:t>is a </a:t>
            </a:r>
            <a:r>
              <a:rPr lang="en-US" sz="2200" dirty="0">
                <a:latin typeface="Comic Sans MS" panose="030F0702030302020204" pitchFamily="66" charset="0"/>
              </a:rPr>
              <a:t>flowchart-like tree structure </a:t>
            </a:r>
            <a:r>
              <a:rPr lang="en-US" sz="2200" dirty="0">
                <a:solidFill>
                  <a:srgbClr val="0000FF"/>
                </a:solidFill>
                <a:latin typeface="Times "/>
              </a:rPr>
              <a:t>where an</a:t>
            </a:r>
            <a:r>
              <a:rPr lang="en-US" sz="2200" dirty="0">
                <a:solidFill>
                  <a:srgbClr val="FF0000"/>
                </a:solidFill>
                <a:latin typeface="Comic Sans MS" panose="030F0702030302020204" pitchFamily="66" charset="0"/>
              </a:rPr>
              <a:t>           (a) </a:t>
            </a:r>
            <a:r>
              <a:rPr lang="en-US" sz="2200" i="1" u="sng" dirty="0">
                <a:solidFill>
                  <a:srgbClr val="FF0000"/>
                </a:solidFill>
                <a:latin typeface="Comic Sans MS" panose="030F0702030302020204" pitchFamily="66" charset="0"/>
              </a:rPr>
              <a:t>internal node</a:t>
            </a:r>
            <a:r>
              <a:rPr lang="en-US" sz="2200" i="1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Times "/>
              </a:rPr>
              <a:t>represents feature (or </a:t>
            </a:r>
            <a:r>
              <a:rPr lang="en-US" sz="2200" dirty="0">
                <a:solidFill>
                  <a:srgbClr val="FF0000"/>
                </a:solidFill>
                <a:latin typeface="Comic Sans MS" panose="030F0702030302020204" pitchFamily="66" charset="0"/>
              </a:rPr>
              <a:t>attribute</a:t>
            </a:r>
            <a:r>
              <a:rPr lang="en-US" sz="2200" dirty="0">
                <a:solidFill>
                  <a:srgbClr val="0000FF"/>
                </a:solidFill>
                <a:latin typeface="Times "/>
              </a:rPr>
              <a:t>), the </a:t>
            </a:r>
            <a:r>
              <a:rPr lang="en-US" sz="2200" dirty="0">
                <a:latin typeface="Comic Sans MS" panose="030F0702030302020204" pitchFamily="66" charset="0"/>
              </a:rPr>
              <a:t>(b) branch represents a </a:t>
            </a:r>
            <a:r>
              <a:rPr lang="en-US" sz="2200" u="sng" dirty="0">
                <a:latin typeface="Comic Sans MS" panose="030F0702030302020204" pitchFamily="66" charset="0"/>
              </a:rPr>
              <a:t>decision rule</a:t>
            </a:r>
            <a:r>
              <a:rPr lang="en-US" sz="2200" dirty="0">
                <a:solidFill>
                  <a:srgbClr val="0000FF"/>
                </a:solidFill>
                <a:latin typeface="Times "/>
              </a:rPr>
              <a:t>, each </a:t>
            </a:r>
            <a:r>
              <a:rPr lang="en-US" sz="2200" dirty="0">
                <a:solidFill>
                  <a:srgbClr val="00B050"/>
                </a:solidFill>
                <a:latin typeface="Comic Sans MS" panose="030F0702030302020204" pitchFamily="66" charset="0"/>
              </a:rPr>
              <a:t>(c) </a:t>
            </a:r>
            <a:r>
              <a:rPr lang="en-US" sz="2200" i="1" u="sng" dirty="0">
                <a:solidFill>
                  <a:srgbClr val="00B050"/>
                </a:solidFill>
                <a:latin typeface="Comic Sans MS" panose="030F0702030302020204" pitchFamily="66" charset="0"/>
              </a:rPr>
              <a:t>leaf node</a:t>
            </a:r>
            <a:r>
              <a:rPr lang="en-US" sz="2200" i="1" dirty="0">
                <a:solidFill>
                  <a:srgbClr val="00B050"/>
                </a:solidFill>
                <a:latin typeface="Comic Sans MS" panose="030F0702030302020204" pitchFamily="66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Times "/>
              </a:rPr>
              <a:t>represents </a:t>
            </a:r>
            <a:r>
              <a:rPr lang="en-US" sz="2200" u="sng" dirty="0">
                <a:solidFill>
                  <a:srgbClr val="00B050"/>
                </a:solidFill>
                <a:latin typeface="Comic Sans MS" panose="030F0702030302020204" pitchFamily="66" charset="0"/>
              </a:rPr>
              <a:t>outcome</a:t>
            </a:r>
            <a:r>
              <a:rPr lang="en-US" sz="2200" dirty="0">
                <a:solidFill>
                  <a:srgbClr val="0000FF"/>
                </a:solidFill>
                <a:latin typeface="Times 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FF"/>
                </a:solidFill>
                <a:latin typeface="Times "/>
              </a:rPr>
              <a:t>This </a:t>
            </a:r>
            <a:r>
              <a:rPr lang="en-US" sz="2200" i="1" dirty="0">
                <a:latin typeface="Comic Sans MS" panose="030F0702030302020204" pitchFamily="66" charset="0"/>
              </a:rPr>
              <a:t>flowchart-like structure</a:t>
            </a:r>
            <a:r>
              <a:rPr lang="en-US" sz="2200" dirty="0">
                <a:solidFill>
                  <a:srgbClr val="0000FF"/>
                </a:solidFill>
                <a:latin typeface="Times "/>
              </a:rPr>
              <a:t> helps you in decision making.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FF"/>
                </a:solidFill>
                <a:latin typeface="Times "/>
              </a:rPr>
              <a:t>It's visualization like a </a:t>
            </a:r>
            <a:r>
              <a:rPr lang="en-US" sz="2200" i="1" dirty="0">
                <a:latin typeface="Comic Sans MS" panose="030F0702030302020204" pitchFamily="66" charset="0"/>
              </a:rPr>
              <a:t>flowchart diagram </a:t>
            </a:r>
            <a:r>
              <a:rPr lang="en-US" sz="2200" dirty="0">
                <a:solidFill>
                  <a:srgbClr val="0000FF"/>
                </a:solidFill>
                <a:latin typeface="Times "/>
              </a:rPr>
              <a:t>which easily </a:t>
            </a:r>
            <a:r>
              <a:rPr lang="en-US" sz="2200" i="1" u="sng" dirty="0">
                <a:latin typeface="Comic Sans MS" panose="030F0702030302020204" pitchFamily="66" charset="0"/>
              </a:rPr>
              <a:t>mimics the human level thinking</a:t>
            </a:r>
            <a:r>
              <a:rPr lang="en-US" sz="2200" dirty="0">
                <a:solidFill>
                  <a:srgbClr val="0000FF"/>
                </a:solidFill>
                <a:latin typeface="Times 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FF"/>
                </a:solidFill>
                <a:latin typeface="Times "/>
              </a:rPr>
              <a:t>That is why </a:t>
            </a:r>
            <a:r>
              <a:rPr lang="en-US" sz="2200" i="1" u="sng" dirty="0">
                <a:latin typeface="Comic Sans MS" panose="030F0702030302020204" pitchFamily="66" charset="0"/>
              </a:rPr>
              <a:t>decision trees </a:t>
            </a:r>
            <a:r>
              <a:rPr lang="en-US" sz="2200" dirty="0">
                <a:solidFill>
                  <a:srgbClr val="0000FF"/>
                </a:solidFill>
                <a:latin typeface="Times "/>
              </a:rPr>
              <a:t>are </a:t>
            </a:r>
            <a:r>
              <a:rPr lang="en-US" sz="2200" i="1" u="sng" dirty="0">
                <a:solidFill>
                  <a:srgbClr val="00B050"/>
                </a:solidFill>
                <a:latin typeface="Comic Sans MS" panose="030F0702030302020204" pitchFamily="66" charset="0"/>
              </a:rPr>
              <a:t>easy to understand and interpret</a:t>
            </a:r>
            <a:r>
              <a:rPr lang="en-US" sz="2200" dirty="0">
                <a:solidFill>
                  <a:srgbClr val="0000FF"/>
                </a:solidFill>
                <a:latin typeface="Times 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0AB6E2-73DD-49EA-C52A-DE226DAC0387}"/>
              </a:ext>
            </a:extLst>
          </p:cNvPr>
          <p:cNvSpPr txBox="1"/>
          <p:nvPr/>
        </p:nvSpPr>
        <p:spPr>
          <a:xfrm>
            <a:off x="3657601" y="4366827"/>
            <a:ext cx="1013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feature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BEDCB0-4F0B-8CDC-8D63-85FFE9C5D13A}"/>
              </a:ext>
            </a:extLst>
          </p:cNvPr>
          <p:cNvSpPr txBox="1"/>
          <p:nvPr/>
        </p:nvSpPr>
        <p:spPr>
          <a:xfrm>
            <a:off x="5334001" y="3528941"/>
            <a:ext cx="1013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feature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F09EA4-75DD-95D6-C707-54940F14F8B4}"/>
              </a:ext>
            </a:extLst>
          </p:cNvPr>
          <p:cNvSpPr txBox="1"/>
          <p:nvPr/>
        </p:nvSpPr>
        <p:spPr>
          <a:xfrm>
            <a:off x="7315201" y="4334561"/>
            <a:ext cx="1013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feature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7BA9C7-0DCC-4B3E-CCC0-69CA22AED3CD}"/>
              </a:ext>
            </a:extLst>
          </p:cNvPr>
          <p:cNvSpPr txBox="1"/>
          <p:nvPr/>
        </p:nvSpPr>
        <p:spPr>
          <a:xfrm>
            <a:off x="2447925" y="5095230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mic Sans MS" panose="030F0702030302020204" pitchFamily="66" charset="0"/>
              </a:rPr>
              <a:t>outcome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2A7164-FAD0-79F0-CED2-EAA69C7C3748}"/>
              </a:ext>
            </a:extLst>
          </p:cNvPr>
          <p:cNvSpPr txBox="1"/>
          <p:nvPr/>
        </p:nvSpPr>
        <p:spPr>
          <a:xfrm>
            <a:off x="2998624" y="6412468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mic Sans MS" panose="030F0702030302020204" pitchFamily="66" charset="0"/>
              </a:rPr>
              <a:t>outcome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41F9581-FEEE-A192-7FC6-EDE4295983DF}"/>
              </a:ext>
            </a:extLst>
          </p:cNvPr>
          <p:cNvCxnSpPr>
            <a:cxnSpLocks/>
          </p:cNvCxnSpPr>
          <p:nvPr/>
        </p:nvCxnSpPr>
        <p:spPr>
          <a:xfrm>
            <a:off x="2895601" y="4703893"/>
            <a:ext cx="1775419" cy="57733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D32E6D8-692D-26DA-2538-52C99BD8C6A9}"/>
              </a:ext>
            </a:extLst>
          </p:cNvPr>
          <p:cNvSpPr txBox="1"/>
          <p:nvPr/>
        </p:nvSpPr>
        <p:spPr>
          <a:xfrm>
            <a:off x="1723801" y="4289610"/>
            <a:ext cx="1628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decision rule</a:t>
            </a:r>
          </a:p>
        </p:txBody>
      </p:sp>
    </p:spTree>
    <p:extLst>
      <p:ext uri="{BB962C8B-B14F-4D97-AF65-F5344CB8AC3E}">
        <p14:creationId xmlns:p14="http://schemas.microsoft.com/office/powerpoint/2010/main" val="4254478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8" grpId="0"/>
      <p:bldP spid="9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E9C2514-FBEC-4126-9EA2-1CE14A6AC2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1" y="1"/>
            <a:ext cx="9143999" cy="774251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5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Tree Structure: </a:t>
            </a:r>
            <a:r>
              <a:rPr lang="en-US" alt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Root Node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C88708-3C22-4410-8C09-6134624E612A}"/>
              </a:ext>
            </a:extLst>
          </p:cNvPr>
          <p:cNvSpPr txBox="1">
            <a:spLocks/>
          </p:cNvSpPr>
          <p:nvPr/>
        </p:nvSpPr>
        <p:spPr bwMode="auto">
          <a:xfrm>
            <a:off x="8763000" y="66294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0" latinLnBrk="0" hangingPunct="0">
              <a:defRPr sz="10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0202EFB-9B50-4085-8064-1CD2E769E676}" type="slidenum">
              <a:rPr lang="en-US" altLang="en-US" sz="1200">
                <a:solidFill>
                  <a:srgbClr val="000000"/>
                </a:solidFill>
              </a:rPr>
              <a:pPr algn="r">
                <a:defRPr/>
              </a:pPr>
              <a:t>4</a:t>
            </a:fld>
            <a:endParaRPr lang="en-US" altLang="en-US" sz="1200" dirty="0">
              <a:solidFill>
                <a:srgbClr val="0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E823BA-34A2-4BB4-86A4-5FEFA6470027}"/>
              </a:ext>
            </a:extLst>
          </p:cNvPr>
          <p:cNvSpPr txBox="1"/>
          <p:nvPr/>
        </p:nvSpPr>
        <p:spPr>
          <a:xfrm>
            <a:off x="1676401" y="957364"/>
            <a:ext cx="881693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FF"/>
                </a:solidFill>
              </a:rPr>
              <a:t>The </a:t>
            </a:r>
            <a:r>
              <a:rPr lang="en-US" sz="2400" u="sng" dirty="0">
                <a:latin typeface="Comic Sans MS" panose="030F0702030302020204" pitchFamily="66" charset="0"/>
              </a:rPr>
              <a:t>topmost node </a:t>
            </a:r>
            <a:r>
              <a:rPr lang="en-US" sz="2400" dirty="0">
                <a:solidFill>
                  <a:srgbClr val="0000FF"/>
                </a:solidFill>
              </a:rPr>
              <a:t>in a decision tree is known as the </a:t>
            </a:r>
            <a:r>
              <a:rPr lang="en-US" sz="2400" i="1" u="sng" dirty="0">
                <a:latin typeface="Comic Sans MS" panose="030F0702030302020204" pitchFamily="66" charset="0"/>
              </a:rPr>
              <a:t>root node</a:t>
            </a:r>
            <a:r>
              <a:rPr lang="en-US" sz="2400" dirty="0">
                <a:solidFill>
                  <a:srgbClr val="0000FF"/>
                </a:solidFill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FF"/>
                </a:solidFill>
              </a:rPr>
              <a:t>It </a:t>
            </a:r>
            <a:r>
              <a:rPr lang="en-US" sz="2400" i="1" u="sng" dirty="0">
                <a:solidFill>
                  <a:srgbClr val="FF0000"/>
                </a:solidFill>
                <a:latin typeface="Comic Sans MS" panose="030F0702030302020204" pitchFamily="66" charset="0"/>
              </a:rPr>
              <a:t>learns to partition</a:t>
            </a:r>
            <a:r>
              <a:rPr lang="en-US" sz="2400" i="1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US" sz="2400" dirty="0">
                <a:solidFill>
                  <a:srgbClr val="0000FF"/>
                </a:solidFill>
              </a:rPr>
              <a:t>on the basis of the attribute value.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rgbClr val="00B050"/>
                </a:solidFill>
                <a:latin typeface="Comic Sans MS" panose="030F0702030302020204" pitchFamily="66" charset="0"/>
              </a:rPr>
              <a:t>Different Tree Structures </a:t>
            </a:r>
            <a:r>
              <a:rPr lang="en-US" sz="2400" u="sng" dirty="0"/>
              <a:t>will be formed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00FF"/>
                </a:solidFill>
              </a:rPr>
              <a:t>if </a:t>
            </a:r>
            <a:r>
              <a:rPr lang="en-US" sz="2400" dirty="0">
                <a:solidFill>
                  <a:srgbClr val="00B050"/>
                </a:solidFill>
                <a:latin typeface="Comic Sans MS" panose="030F0702030302020204" pitchFamily="66" charset="0"/>
              </a:rPr>
              <a:t>different “Features”</a:t>
            </a:r>
            <a:r>
              <a:rPr lang="en-US" sz="2400" dirty="0">
                <a:solidFill>
                  <a:srgbClr val="0000FF"/>
                </a:solidFill>
              </a:rPr>
              <a:t> are </a:t>
            </a:r>
            <a:r>
              <a:rPr lang="en-US" sz="2400" i="1" u="sng" dirty="0">
                <a:solidFill>
                  <a:srgbClr val="FF0000"/>
                </a:solidFill>
                <a:latin typeface="Comic Sans MS" panose="030F0702030302020204" pitchFamily="66" charset="0"/>
              </a:rPr>
              <a:t>used to split</a:t>
            </a:r>
            <a:r>
              <a:rPr lang="en-US" sz="2400" i="1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US" sz="2400" dirty="0">
                <a:solidFill>
                  <a:srgbClr val="0000FF"/>
                </a:solidFill>
              </a:rPr>
              <a:t>the </a:t>
            </a:r>
            <a:r>
              <a:rPr lang="en-US" sz="2400" dirty="0">
                <a:latin typeface="Comic Sans MS" panose="030F0702030302020204" pitchFamily="66" charset="0"/>
              </a:rPr>
              <a:t>tree at the root</a:t>
            </a:r>
            <a:r>
              <a:rPr lang="en-US" sz="2400" dirty="0">
                <a:solidFill>
                  <a:srgbClr val="0000FF"/>
                </a:solidFill>
              </a:rPr>
              <a:t>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4130FF2A-E394-E092-EA69-77D8430D61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39" b="8824"/>
          <a:stretch/>
        </p:blipFill>
        <p:spPr bwMode="auto">
          <a:xfrm>
            <a:off x="2819400" y="3429001"/>
            <a:ext cx="6172200" cy="3069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E1264C31-E23C-98E3-EC38-E49BC1D6E72E}"/>
              </a:ext>
            </a:extLst>
          </p:cNvPr>
          <p:cNvSpPr/>
          <p:nvPr/>
        </p:nvSpPr>
        <p:spPr>
          <a:xfrm>
            <a:off x="4762500" y="3252428"/>
            <a:ext cx="1447800" cy="898797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633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E9C2514-FBEC-4126-9EA2-1CE14A6AC2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1" y="1"/>
            <a:ext cx="9143999" cy="774251"/>
          </a:xfrm>
        </p:spPr>
        <p:txBody>
          <a:bodyPr>
            <a:noAutofit/>
          </a:bodyPr>
          <a:lstStyle/>
          <a:p>
            <a:pPr algn="ctr"/>
            <a:r>
              <a:rPr lang="en-US" altLang="en-US" sz="5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Internal &amp; Leaf Nodes</a:t>
            </a:r>
          </a:p>
        </p:txBody>
      </p:sp>
      <p:pic>
        <p:nvPicPr>
          <p:cNvPr id="9" name="Picture 8" descr="A picture containing game&#10;&#10;Description automatically generated">
            <a:extLst>
              <a:ext uri="{FF2B5EF4-FFF2-40B4-BE49-F238E27FC236}">
                <a16:creationId xmlns:a16="http://schemas.microsoft.com/office/drawing/2014/main" id="{4FD8475A-1A30-4B8D-979C-D6800AF685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912" t="19608" r="12059" b="15685"/>
          <a:stretch/>
        </p:blipFill>
        <p:spPr>
          <a:xfrm>
            <a:off x="1828800" y="1295400"/>
            <a:ext cx="4800600" cy="25146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A909AF-0089-4950-83A9-F60E57B618E7}"/>
              </a:ext>
            </a:extLst>
          </p:cNvPr>
          <p:cNvSpPr txBox="1">
            <a:spLocks/>
          </p:cNvSpPr>
          <p:nvPr/>
        </p:nvSpPr>
        <p:spPr bwMode="auto">
          <a:xfrm>
            <a:off x="8763000" y="66294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0" latinLnBrk="0" hangingPunct="0">
              <a:defRPr sz="10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0202EFB-9B50-4085-8064-1CD2E769E676}" type="slidenum">
              <a:rPr lang="en-US" altLang="en-US" sz="1200">
                <a:solidFill>
                  <a:srgbClr val="000000"/>
                </a:solidFill>
              </a:rPr>
              <a:pPr algn="r">
                <a:defRPr/>
              </a:pPr>
              <a:t>5</a:t>
            </a:fld>
            <a:endParaRPr lang="en-US" altLang="en-US" sz="1200" dirty="0">
              <a:solidFill>
                <a:srgbClr val="000000"/>
              </a:solidFill>
            </a:endParaRPr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5225A3BC-4FB2-4B24-A0D9-045E4AF9879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241" t="26881" r="13793" b="8271"/>
          <a:stretch/>
        </p:blipFill>
        <p:spPr>
          <a:xfrm>
            <a:off x="5410200" y="3934908"/>
            <a:ext cx="4572000" cy="23896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931315-6D59-AAEC-25D2-31BE26975191}"/>
              </a:ext>
            </a:extLst>
          </p:cNvPr>
          <p:cNvSpPr txBox="1"/>
          <p:nvPr/>
        </p:nvSpPr>
        <p:spPr>
          <a:xfrm>
            <a:off x="2133600" y="882134"/>
            <a:ext cx="5142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These are called </a:t>
            </a:r>
            <a:r>
              <a:rPr lang="en-US" i="1" u="sng" dirty="0">
                <a:solidFill>
                  <a:srgbClr val="FF0000"/>
                </a:solidFill>
                <a:latin typeface="Comic Sans MS" panose="030F0702030302020204" pitchFamily="66" charset="0"/>
              </a:rPr>
              <a:t>internal nodes </a:t>
            </a:r>
            <a:r>
              <a:rPr 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</a:t>
            </a:r>
            <a:r>
              <a:rPr lang="en-US" i="1" u="sng" dirty="0">
                <a:solidFill>
                  <a:srgbClr val="FF0000"/>
                </a:solidFill>
                <a:latin typeface="Comic Sans MS" panose="030F0702030302020204" pitchFamily="66" charset="0"/>
              </a:rPr>
              <a:t>decision nodes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59C6D8-7C6E-804F-6AC9-BD4B083E00D4}"/>
              </a:ext>
            </a:extLst>
          </p:cNvPr>
          <p:cNvSpPr txBox="1"/>
          <p:nvPr/>
        </p:nvSpPr>
        <p:spPr>
          <a:xfrm>
            <a:off x="5257801" y="6266568"/>
            <a:ext cx="5003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These are called </a:t>
            </a:r>
            <a:r>
              <a:rPr lang="en-US" i="1" u="sng" dirty="0">
                <a:solidFill>
                  <a:srgbClr val="00B050"/>
                </a:solidFill>
                <a:latin typeface="Comic Sans MS" panose="030F0702030302020204" pitchFamily="66" charset="0"/>
              </a:rPr>
              <a:t>Leaf Nodes </a:t>
            </a:r>
            <a:r>
              <a:rPr 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</a:t>
            </a:r>
            <a:r>
              <a:rPr lang="en-US" i="1" u="sng" dirty="0">
                <a:solidFill>
                  <a:srgbClr val="00B050"/>
                </a:solidFill>
                <a:latin typeface="Comic Sans MS" panose="030F0702030302020204" pitchFamily="66" charset="0"/>
              </a:rPr>
              <a:t>Terminal Nodes</a:t>
            </a:r>
          </a:p>
        </p:txBody>
      </p:sp>
    </p:spTree>
    <p:extLst>
      <p:ext uri="{BB962C8B-B14F-4D97-AF65-F5344CB8AC3E}">
        <p14:creationId xmlns:p14="http://schemas.microsoft.com/office/powerpoint/2010/main" val="3563070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02728" y="646546"/>
            <a:ext cx="2909455" cy="96981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30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Homework Deadline tonight?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5957455" y="1358006"/>
            <a:ext cx="2983344" cy="1731558"/>
            <a:chOff x="4433455" y="1358006"/>
            <a:chExt cx="2983344" cy="1731558"/>
          </a:xfrm>
        </p:grpSpPr>
        <p:sp>
          <p:nvSpPr>
            <p:cNvPr id="5" name="Rectangle 4"/>
            <p:cNvSpPr/>
            <p:nvPr/>
          </p:nvSpPr>
          <p:spPr>
            <a:xfrm>
              <a:off x="5052290" y="2119745"/>
              <a:ext cx="2364509" cy="969819"/>
            </a:xfrm>
            <a:prstGeom prst="rect">
              <a:avLst/>
            </a:prstGeom>
            <a:solidFill>
              <a:schemeClr val="accent3">
                <a:alpha val="3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defRPr/>
              </a:pPr>
              <a:r>
                <a:rPr lang="en-US" sz="2400" dirty="0">
                  <a:solidFill>
                    <a:prstClr val="black"/>
                  </a:solidFill>
                  <a:latin typeface="Calibri"/>
                </a:rPr>
                <a:t>Do homework</a:t>
              </a:r>
            </a:p>
          </p:txBody>
        </p:sp>
        <p:cxnSp>
          <p:nvCxnSpPr>
            <p:cNvPr id="9" name="Straight Arrow Connector 8"/>
            <p:cNvCxnSpPr>
              <a:stCxn id="4" idx="2"/>
              <a:endCxn id="5" idx="0"/>
            </p:cNvCxnSpPr>
            <p:nvPr/>
          </p:nvCxnSpPr>
          <p:spPr>
            <a:xfrm>
              <a:off x="4433455" y="1616364"/>
              <a:ext cx="1801090" cy="503381"/>
            </a:xfrm>
            <a:prstGeom prst="straightConnector1">
              <a:avLst/>
            </a:prstGeom>
            <a:ln>
              <a:solidFill>
                <a:schemeClr val="accent3">
                  <a:lumMod val="75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6075283" y="1358006"/>
              <a:ext cx="65261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>
                <a:defRPr/>
              </a:pPr>
              <a:r>
                <a:rPr lang="en-US" sz="2800" dirty="0">
                  <a:solidFill>
                    <a:srgbClr val="FF0000"/>
                  </a:solidFill>
                  <a:latin typeface="Calibri"/>
                </a:rPr>
                <a:t>Yes</a:t>
              </a:r>
              <a:endParaRPr lang="en-US" dirty="0">
                <a:solidFill>
                  <a:srgbClr val="FF0000"/>
                </a:solidFill>
                <a:latin typeface="Calibri"/>
              </a:endParaRP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3029527" y="1596525"/>
            <a:ext cx="2927928" cy="1640820"/>
            <a:chOff x="1505527" y="1596525"/>
            <a:chExt cx="2927928" cy="1640820"/>
          </a:xfrm>
        </p:grpSpPr>
        <p:sp>
          <p:nvSpPr>
            <p:cNvPr id="11" name="Rectangle 10"/>
            <p:cNvSpPr/>
            <p:nvPr/>
          </p:nvSpPr>
          <p:spPr>
            <a:xfrm>
              <a:off x="1505527" y="2267526"/>
              <a:ext cx="2364509" cy="96981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defRPr/>
              </a:pPr>
              <a:r>
                <a:rPr lang="en-US" sz="2400" dirty="0">
                  <a:solidFill>
                    <a:prstClr val="black"/>
                  </a:solidFill>
                  <a:latin typeface="Calibri"/>
                </a:rPr>
                <a:t>Party invitation?</a:t>
              </a:r>
            </a:p>
          </p:txBody>
        </p:sp>
        <p:grpSp>
          <p:nvGrpSpPr>
            <p:cNvPr id="16" name="Group 15"/>
            <p:cNvGrpSpPr/>
            <p:nvPr/>
          </p:nvGrpSpPr>
          <p:grpSpPr>
            <a:xfrm>
              <a:off x="2520107" y="1596525"/>
              <a:ext cx="1913348" cy="671001"/>
              <a:chOff x="2520107" y="1596525"/>
              <a:chExt cx="1913348" cy="671001"/>
            </a:xfrm>
          </p:grpSpPr>
          <p:cxnSp>
            <p:nvCxnSpPr>
              <p:cNvPr id="12" name="Straight Arrow Connector 11"/>
              <p:cNvCxnSpPr>
                <a:stCxn id="4" idx="2"/>
                <a:endCxn id="11" idx="0"/>
              </p:cNvCxnSpPr>
              <p:nvPr/>
            </p:nvCxnSpPr>
            <p:spPr>
              <a:xfrm flipH="1">
                <a:off x="2687782" y="1616364"/>
                <a:ext cx="1745673" cy="651162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/>
              <p:cNvSpPr txBox="1"/>
              <p:nvPr/>
            </p:nvSpPr>
            <p:spPr>
              <a:xfrm>
                <a:off x="2520107" y="1596525"/>
                <a:ext cx="60580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457200">
                  <a:defRPr/>
                </a:pPr>
                <a:r>
                  <a:rPr lang="en-US" sz="2800" dirty="0">
                    <a:solidFill>
                      <a:prstClr val="black"/>
                    </a:solidFill>
                    <a:latin typeface="Calibri"/>
                  </a:rPr>
                  <a:t>No</a:t>
                </a:r>
                <a:endParaRPr lang="en-US" dirty="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</p:grpSp>
      <p:grpSp>
        <p:nvGrpSpPr>
          <p:cNvPr id="53" name="Group 52"/>
          <p:cNvGrpSpPr/>
          <p:nvPr/>
        </p:nvGrpSpPr>
        <p:grpSpPr>
          <a:xfrm>
            <a:off x="2322349" y="3237345"/>
            <a:ext cx="2364509" cy="1623712"/>
            <a:chOff x="798348" y="3237345"/>
            <a:chExt cx="2364509" cy="1623712"/>
          </a:xfrm>
        </p:grpSpPr>
        <p:grpSp>
          <p:nvGrpSpPr>
            <p:cNvPr id="17" name="Group 16"/>
            <p:cNvGrpSpPr/>
            <p:nvPr/>
          </p:nvGrpSpPr>
          <p:grpSpPr>
            <a:xfrm>
              <a:off x="1521279" y="3237345"/>
              <a:ext cx="1166503" cy="653893"/>
              <a:chOff x="2971388" y="1481070"/>
              <a:chExt cx="1166503" cy="653893"/>
            </a:xfrm>
          </p:grpSpPr>
          <p:cxnSp>
            <p:nvCxnSpPr>
              <p:cNvPr id="18" name="Straight Arrow Connector 17"/>
              <p:cNvCxnSpPr>
                <a:stCxn id="11" idx="2"/>
                <a:endCxn id="21" idx="0"/>
              </p:cNvCxnSpPr>
              <p:nvPr/>
            </p:nvCxnSpPr>
            <p:spPr>
              <a:xfrm flipH="1">
                <a:off x="3430712" y="1481070"/>
                <a:ext cx="707179" cy="653893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/>
              <p:cNvSpPr txBox="1"/>
              <p:nvPr/>
            </p:nvSpPr>
            <p:spPr>
              <a:xfrm>
                <a:off x="2971388" y="1528618"/>
                <a:ext cx="60580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457200">
                  <a:defRPr/>
                </a:pPr>
                <a:r>
                  <a:rPr lang="en-US" sz="2800" dirty="0">
                    <a:solidFill>
                      <a:prstClr val="black"/>
                    </a:solidFill>
                    <a:latin typeface="Calibri"/>
                  </a:rPr>
                  <a:t>No</a:t>
                </a:r>
                <a:endParaRPr lang="en-US" dirty="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21" name="Rectangle 20"/>
            <p:cNvSpPr/>
            <p:nvPr/>
          </p:nvSpPr>
          <p:spPr>
            <a:xfrm>
              <a:off x="798348" y="3891238"/>
              <a:ext cx="2364509" cy="96981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defRPr/>
              </a:pPr>
              <a:r>
                <a:rPr lang="en-US" sz="2400" dirty="0">
                  <a:solidFill>
                    <a:prstClr val="black"/>
                  </a:solidFill>
                  <a:latin typeface="Calibri"/>
                </a:rPr>
                <a:t>Do I have friends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4211782" y="3138738"/>
            <a:ext cx="3546762" cy="1716658"/>
            <a:chOff x="2687782" y="3138738"/>
            <a:chExt cx="3546762" cy="1716658"/>
          </a:xfrm>
        </p:grpSpPr>
        <p:grpSp>
          <p:nvGrpSpPr>
            <p:cNvPr id="24" name="Group 23"/>
            <p:cNvGrpSpPr/>
            <p:nvPr/>
          </p:nvGrpSpPr>
          <p:grpSpPr>
            <a:xfrm>
              <a:off x="2687782" y="3138738"/>
              <a:ext cx="2364508" cy="746839"/>
              <a:chOff x="1824421" y="1181151"/>
              <a:chExt cx="2364508" cy="746839"/>
            </a:xfrm>
          </p:grpSpPr>
          <p:cxnSp>
            <p:nvCxnSpPr>
              <p:cNvPr id="25" name="Straight Arrow Connector 24"/>
              <p:cNvCxnSpPr>
                <a:stCxn id="11" idx="2"/>
                <a:endCxn id="29" idx="0"/>
              </p:cNvCxnSpPr>
              <p:nvPr/>
            </p:nvCxnSpPr>
            <p:spPr>
              <a:xfrm>
                <a:off x="1824421" y="1279758"/>
                <a:ext cx="2364508" cy="648232"/>
              </a:xfrm>
              <a:prstGeom prst="straightConnector1">
                <a:avLst/>
              </a:prstGeom>
              <a:ln>
                <a:solidFill>
                  <a:srgbClr val="77933C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25"/>
              <p:cNvSpPr txBox="1"/>
              <p:nvPr/>
            </p:nvSpPr>
            <p:spPr>
              <a:xfrm>
                <a:off x="3487098" y="1181151"/>
                <a:ext cx="65261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457200">
                  <a:defRPr/>
                </a:pPr>
                <a:r>
                  <a:rPr lang="en-US" sz="2800" dirty="0">
                    <a:solidFill>
                      <a:srgbClr val="FF0000"/>
                    </a:solidFill>
                    <a:latin typeface="Calibri"/>
                  </a:rPr>
                  <a:t>Yes</a:t>
                </a:r>
                <a:endParaRPr lang="en-US" dirty="0">
                  <a:solidFill>
                    <a:srgbClr val="FF0000"/>
                  </a:solidFill>
                  <a:latin typeface="Calibri"/>
                </a:endParaRPr>
              </a:p>
            </p:txBody>
          </p:sp>
        </p:grpSp>
        <p:sp>
          <p:nvSpPr>
            <p:cNvPr id="29" name="Rectangle 28"/>
            <p:cNvSpPr/>
            <p:nvPr/>
          </p:nvSpPr>
          <p:spPr>
            <a:xfrm>
              <a:off x="3870035" y="3885577"/>
              <a:ext cx="2364509" cy="969819"/>
            </a:xfrm>
            <a:prstGeom prst="rect">
              <a:avLst/>
            </a:prstGeom>
            <a:solidFill>
              <a:schemeClr val="accent3">
                <a:alpha val="3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defRPr/>
              </a:pPr>
              <a:r>
                <a:rPr lang="en-US" sz="2400" dirty="0">
                  <a:solidFill>
                    <a:prstClr val="black"/>
                  </a:solidFill>
                  <a:latin typeface="Calibri"/>
                </a:rPr>
                <a:t>Go to the party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2230582" y="4861058"/>
            <a:ext cx="2364509" cy="1584037"/>
            <a:chOff x="706581" y="4861057"/>
            <a:chExt cx="2364509" cy="1584037"/>
          </a:xfrm>
        </p:grpSpPr>
        <p:cxnSp>
          <p:nvCxnSpPr>
            <p:cNvPr id="36" name="Straight Arrow Connector 35"/>
            <p:cNvCxnSpPr>
              <a:stCxn id="21" idx="2"/>
              <a:endCxn id="30" idx="0"/>
            </p:cNvCxnSpPr>
            <p:nvPr/>
          </p:nvCxnSpPr>
          <p:spPr>
            <a:xfrm flipH="1">
              <a:off x="1888836" y="4861057"/>
              <a:ext cx="91767" cy="61421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Group 55"/>
            <p:cNvGrpSpPr/>
            <p:nvPr/>
          </p:nvGrpSpPr>
          <p:grpSpPr>
            <a:xfrm>
              <a:off x="706581" y="4887524"/>
              <a:ext cx="2364509" cy="1557570"/>
              <a:chOff x="706581" y="4887524"/>
              <a:chExt cx="2364509" cy="1557570"/>
            </a:xfrm>
          </p:grpSpPr>
          <p:sp>
            <p:nvSpPr>
              <p:cNvPr id="30" name="Rectangle 29"/>
              <p:cNvSpPr/>
              <p:nvPr/>
            </p:nvSpPr>
            <p:spPr>
              <a:xfrm>
                <a:off x="706581" y="5475275"/>
                <a:ext cx="2364509" cy="969819"/>
              </a:xfrm>
              <a:prstGeom prst="rect">
                <a:avLst/>
              </a:prstGeom>
              <a:solidFill>
                <a:srgbClr val="9BBB59">
                  <a:alpha val="30000"/>
                </a:srgb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200">
                  <a:defRPr/>
                </a:pPr>
                <a:r>
                  <a:rPr lang="en-US" sz="2400" dirty="0">
                    <a:solidFill>
                      <a:prstClr val="black"/>
                    </a:solidFill>
                    <a:latin typeface="Calibri"/>
                  </a:rPr>
                  <a:t>Read a book</a:t>
                </a: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1337626" y="4887524"/>
                <a:ext cx="60580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457200">
                  <a:defRPr/>
                </a:pPr>
                <a:r>
                  <a:rPr lang="en-US" sz="2800" dirty="0">
                    <a:solidFill>
                      <a:prstClr val="black"/>
                    </a:solidFill>
                    <a:latin typeface="Calibri"/>
                  </a:rPr>
                  <a:t>No</a:t>
                </a:r>
                <a:endParaRPr lang="en-US" dirty="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</p:grpSp>
      <p:grpSp>
        <p:nvGrpSpPr>
          <p:cNvPr id="57" name="Group 56"/>
          <p:cNvGrpSpPr/>
          <p:nvPr/>
        </p:nvGrpSpPr>
        <p:grpSpPr>
          <a:xfrm>
            <a:off x="3504604" y="4632203"/>
            <a:ext cx="4452523" cy="1691780"/>
            <a:chOff x="1980603" y="4632203"/>
            <a:chExt cx="4452523" cy="1691780"/>
          </a:xfrm>
        </p:grpSpPr>
        <p:sp>
          <p:nvSpPr>
            <p:cNvPr id="41" name="Rectangle 40"/>
            <p:cNvSpPr/>
            <p:nvPr/>
          </p:nvSpPr>
          <p:spPr>
            <a:xfrm>
              <a:off x="4068617" y="5354164"/>
              <a:ext cx="2364509" cy="969819"/>
            </a:xfrm>
            <a:prstGeom prst="rect">
              <a:avLst/>
            </a:prstGeom>
            <a:solidFill>
              <a:schemeClr val="accent3">
                <a:alpha val="3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defRPr/>
              </a:pPr>
              <a:r>
                <a:rPr lang="en-US" sz="2400" dirty="0">
                  <a:solidFill>
                    <a:prstClr val="black"/>
                  </a:solidFill>
                  <a:latin typeface="Calibri"/>
                </a:rPr>
                <a:t>Hang out with friends</a:t>
              </a:r>
            </a:p>
          </p:txBody>
        </p:sp>
        <p:cxnSp>
          <p:nvCxnSpPr>
            <p:cNvPr id="42" name="Straight Arrow Connector 41"/>
            <p:cNvCxnSpPr>
              <a:stCxn id="21" idx="2"/>
              <a:endCxn id="41" idx="0"/>
            </p:cNvCxnSpPr>
            <p:nvPr/>
          </p:nvCxnSpPr>
          <p:spPr>
            <a:xfrm>
              <a:off x="1980603" y="4861057"/>
              <a:ext cx="3270269" cy="493107"/>
            </a:xfrm>
            <a:prstGeom prst="straightConnector1">
              <a:avLst/>
            </a:prstGeom>
            <a:ln>
              <a:solidFill>
                <a:srgbClr val="77933C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3191295" y="4632203"/>
              <a:ext cx="65261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>
                <a:defRPr/>
              </a:pPr>
              <a:r>
                <a:rPr lang="en-US" sz="2800" dirty="0">
                  <a:solidFill>
                    <a:srgbClr val="FF0000"/>
                  </a:solidFill>
                  <a:latin typeface="Calibri"/>
                </a:rPr>
                <a:t>Yes</a:t>
              </a:r>
              <a:endParaRPr lang="en-US" dirty="0">
                <a:solidFill>
                  <a:srgbClr val="FF0000"/>
                </a:solidFill>
                <a:latin typeface="Calibri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888E4F-5234-48A4-A903-0846D5A41ED9}"/>
              </a:ext>
            </a:extLst>
          </p:cNvPr>
          <p:cNvSpPr txBox="1">
            <a:spLocks/>
          </p:cNvSpPr>
          <p:nvPr/>
        </p:nvSpPr>
        <p:spPr bwMode="auto">
          <a:xfrm>
            <a:off x="8763000" y="66294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0" latinLnBrk="0" hangingPunct="0">
              <a:defRPr sz="10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0202EFB-9B50-4085-8064-1CD2E769E676}" type="slidenum">
              <a:rPr lang="en-US" altLang="en-US" sz="1200">
                <a:solidFill>
                  <a:srgbClr val="000000"/>
                </a:solidFill>
                <a:cs typeface="Times New Roman"/>
              </a:rPr>
              <a:pPr algn="r">
                <a:defRPr/>
              </a:pPr>
              <a:t>6</a:t>
            </a:fld>
            <a:endParaRPr lang="en-US" altLang="en-US" sz="1200" dirty="0">
              <a:solidFill>
                <a:srgbClr val="000000"/>
              </a:solidFill>
              <a:cs typeface="Times New Roman"/>
            </a:endParaRP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9742FE4A-EC13-4705-86D5-615E8B11C84D}"/>
              </a:ext>
            </a:extLst>
          </p:cNvPr>
          <p:cNvSpPr txBox="1">
            <a:spLocks/>
          </p:cNvSpPr>
          <p:nvPr/>
        </p:nvSpPr>
        <p:spPr>
          <a:xfrm>
            <a:off x="1524000" y="2865"/>
            <a:ext cx="9144000" cy="5591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5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Example : Decision?</a:t>
            </a:r>
          </a:p>
        </p:txBody>
      </p:sp>
    </p:spTree>
    <p:extLst>
      <p:ext uri="{BB962C8B-B14F-4D97-AF65-F5344CB8AC3E}">
        <p14:creationId xmlns:p14="http://schemas.microsoft.com/office/powerpoint/2010/main" val="4265444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2" name="Rectangle 7">
            <a:extLst>
              <a:ext uri="{FF2B5EF4-FFF2-40B4-BE49-F238E27FC236}">
                <a16:creationId xmlns:a16="http://schemas.microsoft.com/office/drawing/2014/main" id="{C1A4241F-1DE5-4DC9-835F-343BB1D3A2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1"/>
            <a:ext cx="9144000" cy="774251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5400" dirty="0">
                <a:solidFill>
                  <a:srgbClr val="0070C0"/>
                </a:solidFill>
                <a:latin typeface="Comic Sans MS" panose="030F0702030302020204" pitchFamily="66" charset="0"/>
              </a:rPr>
              <a:t>DT: Algorithm</a:t>
            </a:r>
          </a:p>
        </p:txBody>
      </p:sp>
      <p:sp>
        <p:nvSpPr>
          <p:cNvPr id="27" name="Slide Number Placeholder 1">
            <a:extLst>
              <a:ext uri="{FF2B5EF4-FFF2-40B4-BE49-F238E27FC236}">
                <a16:creationId xmlns:a16="http://schemas.microsoft.com/office/drawing/2014/main" id="{CFA46F9A-3886-4D48-A17F-75A47886DB70}"/>
              </a:ext>
            </a:extLst>
          </p:cNvPr>
          <p:cNvSpPr txBox="1">
            <a:spLocks/>
          </p:cNvSpPr>
          <p:nvPr/>
        </p:nvSpPr>
        <p:spPr bwMode="auto">
          <a:xfrm>
            <a:off x="9982200" y="6629400"/>
            <a:ext cx="6858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0" latinLnBrk="0" hangingPunct="0">
              <a:defRPr sz="1000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0202EFB-9B50-4085-8064-1CD2E769E676}" type="slidenum">
              <a:rPr lang="en-US" altLang="en-US" sz="1200">
                <a:solidFill>
                  <a:srgbClr val="000000"/>
                </a:solidFill>
                <a:cs typeface="Times New Roman"/>
              </a:rPr>
              <a:pPr algn="r">
                <a:defRPr/>
              </a:pPr>
              <a:t>7</a:t>
            </a:fld>
            <a:endParaRPr lang="en-US" altLang="en-US" sz="1200" dirty="0">
              <a:solidFill>
                <a:srgbClr val="000000"/>
              </a:solidFill>
              <a:cs typeface="Times New Roman"/>
            </a:endParaRPr>
          </a:p>
        </p:txBody>
      </p:sp>
      <p:graphicFrame>
        <p:nvGraphicFramePr>
          <p:cNvPr id="28" name="Group 28">
            <a:extLst>
              <a:ext uri="{FF2B5EF4-FFF2-40B4-BE49-F238E27FC236}">
                <a16:creationId xmlns:a16="http://schemas.microsoft.com/office/drawing/2014/main" id="{765C2E8B-5743-B72B-E9E3-280DA4701ADF}"/>
              </a:ext>
            </a:extLst>
          </p:cNvPr>
          <p:cNvGraphicFramePr>
            <a:graphicFrameLocks noGrp="1"/>
          </p:cNvGraphicFramePr>
          <p:nvPr/>
        </p:nvGraphicFramePr>
        <p:xfrm>
          <a:off x="6318479" y="3646488"/>
          <a:ext cx="4348667" cy="2982913"/>
        </p:xfrm>
        <a:graphic>
          <a:graphicData uri="http://schemas.openxmlformats.org/drawingml/2006/table">
            <a:tbl>
              <a:tblPr/>
              <a:tblGrid>
                <a:gridCol w="7914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7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33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6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5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12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ID code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Outlook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Temperature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Humidity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Windy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Play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167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c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f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g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h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i</a:t>
                      </a:r>
                      <a:endParaRPr kumimoji="1" lang="en-US" altLang="zh-TW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新細明體" pitchFamily="18" charset="-12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j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n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Sunny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Sunny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Overcast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Rainy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Rainy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Rainy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Overcast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Sunny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Sunny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Rainy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Sunny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Overcast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Overcast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Rainy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Hot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Hot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Hot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Mild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Cool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Cool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Cool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Mild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Cool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Mild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Mild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Mild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Hot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Mild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High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High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High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High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Normal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Normal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Normal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High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Normal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Normal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Normal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High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Normal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High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False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True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False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False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False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True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True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False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False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False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True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True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False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True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No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No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Yes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Yes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Yes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No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Yes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No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Yes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Yes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Yes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Yes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Yes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TW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新細明體" pitchFamily="18" charset="-120"/>
                        </a:rPr>
                        <a:t>No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3314" name="Picture 2">
            <a:extLst>
              <a:ext uri="{FF2B5EF4-FFF2-40B4-BE49-F238E27FC236}">
                <a16:creationId xmlns:a16="http://schemas.microsoft.com/office/drawing/2014/main" id="{4409C2D3-8E71-D57D-3668-BC876B042E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896"/>
          <a:stretch/>
        </p:blipFill>
        <p:spPr bwMode="auto">
          <a:xfrm>
            <a:off x="1676400" y="3417888"/>
            <a:ext cx="4495800" cy="1382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D19063-34AF-8466-D6E1-E2C703744CF3}"/>
              </a:ext>
            </a:extLst>
          </p:cNvPr>
          <p:cNvSpPr txBox="1"/>
          <p:nvPr/>
        </p:nvSpPr>
        <p:spPr>
          <a:xfrm>
            <a:off x="1676400" y="774252"/>
            <a:ext cx="883920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Start with a training data </a:t>
            </a:r>
            <a:r>
              <a:rPr lang="en-US" dirty="0">
                <a:solidFill>
                  <a:srgbClr val="0000FF"/>
                </a:solidFill>
              </a:rPr>
              <a:t>set which we’ll call S. It should have attributes and classification.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000FF"/>
                </a:solidFill>
              </a:rPr>
              <a:t>Determine the </a:t>
            </a:r>
            <a:r>
              <a:rPr lang="en-US" sz="2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best attribute</a:t>
            </a:r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solidFill>
                  <a:srgbClr val="0000FF"/>
                </a:solidFill>
              </a:rPr>
              <a:t>in the dataset. (</a:t>
            </a:r>
            <a:r>
              <a:rPr lang="en-US" dirty="0">
                <a:solidFill>
                  <a:srgbClr val="FF0000"/>
                </a:solidFill>
              </a:rPr>
              <a:t>We will cover the definition of best attribute</a:t>
            </a:r>
            <a:r>
              <a:rPr lang="en-US" dirty="0">
                <a:solidFill>
                  <a:srgbClr val="0000FF"/>
                </a:solidFill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Split S</a:t>
            </a:r>
            <a:r>
              <a:rPr lang="en-US" dirty="0">
                <a:solidFill>
                  <a:srgbClr val="0000FF"/>
                </a:solidFill>
              </a:rPr>
              <a:t> into subset that contains the possible values for the best attribute.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Make decision tree node </a:t>
            </a:r>
            <a:r>
              <a:rPr lang="en-US" dirty="0">
                <a:solidFill>
                  <a:srgbClr val="0000FF"/>
                </a:solidFill>
              </a:rPr>
              <a:t>that contains the best attribute.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Recursively generate new decision trees </a:t>
            </a:r>
            <a:r>
              <a:rPr lang="en-US" dirty="0">
                <a:solidFill>
                  <a:srgbClr val="0000FF"/>
                </a:solidFill>
              </a:rPr>
              <a:t>by using the subset of data created from step 3 until a stage is reached where you cannot classify the data further. </a:t>
            </a:r>
            <a:r>
              <a:rPr lang="en-US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Represent the class as leaf node.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3E8AC9-B91E-B876-8F4C-51D7C0CB6759}"/>
              </a:ext>
            </a:extLst>
          </p:cNvPr>
          <p:cNvSpPr/>
          <p:nvPr/>
        </p:nvSpPr>
        <p:spPr bwMode="auto">
          <a:xfrm>
            <a:off x="7086600" y="3581401"/>
            <a:ext cx="685800" cy="249299"/>
          </a:xfrm>
          <a:prstGeom prst="rect">
            <a:avLst/>
          </a:prstGeom>
          <a:noFill/>
          <a:ln w="412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</a:pPr>
            <a:endParaRPr lang="en-US" b="1">
              <a:latin typeface="Arial" charset="0"/>
              <a:cs typeface="Arial" charset="0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7717092F-0EBB-1DD2-B7E1-874C951462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5" t="38839" r="57627" b="33979"/>
          <a:stretch/>
        </p:blipFill>
        <p:spPr bwMode="auto">
          <a:xfrm>
            <a:off x="1752600" y="4724400"/>
            <a:ext cx="18288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74006EA5-8F9E-F26F-E475-66BE2B2E7E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73" t="38839" r="37288" b="36243"/>
          <a:stretch/>
        </p:blipFill>
        <p:spPr bwMode="auto">
          <a:xfrm>
            <a:off x="3581400" y="4724400"/>
            <a:ext cx="9144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ECA3B953-D8C6-A295-9958-82DF3131E4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12" t="38839" b="33978"/>
          <a:stretch/>
        </p:blipFill>
        <p:spPr bwMode="auto">
          <a:xfrm>
            <a:off x="4495800" y="4724400"/>
            <a:ext cx="1676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9014DF2F-F93A-56F0-6EEE-9887C668BE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757"/>
          <a:stretch/>
        </p:blipFill>
        <p:spPr bwMode="auto">
          <a:xfrm>
            <a:off x="1676400" y="5562600"/>
            <a:ext cx="44958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B43A252-41A3-FF26-20E5-84CAE04247FC}"/>
              </a:ext>
            </a:extLst>
          </p:cNvPr>
          <p:cNvSpPr/>
          <p:nvPr/>
        </p:nvSpPr>
        <p:spPr bwMode="auto">
          <a:xfrm>
            <a:off x="6318478" y="4267201"/>
            <a:ext cx="4197122" cy="249299"/>
          </a:xfrm>
          <a:prstGeom prst="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</a:pPr>
            <a:endParaRPr lang="en-US" b="1">
              <a:latin typeface="Arial" charset="0"/>
              <a:cs typeface="Arial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411FC8-4B4A-B579-E7A7-2B09987C396E}"/>
              </a:ext>
            </a:extLst>
          </p:cNvPr>
          <p:cNvSpPr/>
          <p:nvPr/>
        </p:nvSpPr>
        <p:spPr bwMode="auto">
          <a:xfrm>
            <a:off x="6318478" y="5016358"/>
            <a:ext cx="4197122" cy="249299"/>
          </a:xfrm>
          <a:prstGeom prst="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</a:pPr>
            <a:endParaRPr lang="en-US" b="1">
              <a:latin typeface="Arial" charset="0"/>
              <a:cs typeface="Arial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2DD78C-8F5A-16AC-2860-910FBD93406C}"/>
              </a:ext>
            </a:extLst>
          </p:cNvPr>
          <p:cNvSpPr/>
          <p:nvPr/>
        </p:nvSpPr>
        <p:spPr bwMode="auto">
          <a:xfrm>
            <a:off x="6326184" y="5880244"/>
            <a:ext cx="4197122" cy="249299"/>
          </a:xfrm>
          <a:prstGeom prst="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</a:pPr>
            <a:endParaRPr lang="en-US" b="1">
              <a:latin typeface="Arial" charset="0"/>
              <a:cs typeface="Arial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2DF2AE-3556-EF17-B8ED-B2EDA0FBDCBA}"/>
              </a:ext>
            </a:extLst>
          </p:cNvPr>
          <p:cNvSpPr/>
          <p:nvPr/>
        </p:nvSpPr>
        <p:spPr bwMode="auto">
          <a:xfrm>
            <a:off x="6318478" y="6096001"/>
            <a:ext cx="4197122" cy="249299"/>
          </a:xfrm>
          <a:prstGeom prst="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</a:pPr>
            <a:endParaRPr lang="en-US" b="1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427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2" grpId="0" animBg="1"/>
      <p:bldP spid="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Why Entropy and Information Gain is super important for Decision tree">
            <a:extLst>
              <a:ext uri="{FF2B5EF4-FFF2-40B4-BE49-F238E27FC236}">
                <a16:creationId xmlns:a16="http://schemas.microsoft.com/office/drawing/2014/main" id="{142B1299-F32C-0FE1-5C3A-C18586D0C0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68" r="1614"/>
          <a:stretch/>
        </p:blipFill>
        <p:spPr bwMode="auto">
          <a:xfrm>
            <a:off x="518054" y="253999"/>
            <a:ext cx="8117946" cy="461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ecision Tree">
            <a:extLst>
              <a:ext uri="{FF2B5EF4-FFF2-40B4-BE49-F238E27FC236}">
                <a16:creationId xmlns:a16="http://schemas.microsoft.com/office/drawing/2014/main" id="{709EAD2E-D1A6-0AB9-4DAD-82FED337BD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5796" y="3893609"/>
            <a:ext cx="4248150" cy="260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B5C4E65-4F6F-0DBD-5245-594879E549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996" y="5476193"/>
            <a:ext cx="6781272" cy="5778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B7D81-6594-EA05-F5D3-4EAEC7110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63A2-8410-4290-AC7F-71ED325F0D14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550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0B790D-E32E-6C0F-16EE-2B6B4051A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694" y="0"/>
            <a:ext cx="6796611" cy="6858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01CB1-4F05-989E-3285-9BA744524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63A2-8410-4290-AC7F-71ED325F0D14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604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703FE4-B52D-B10D-8C7E-59F851531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796396"/>
            <a:ext cx="10660652" cy="526520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AC864-FB6A-D4AD-F599-BA10788CD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63A2-8410-4290-AC7F-71ED325F0D14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9537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5EEBC7-FEEA-969D-D685-D19C43C58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637" y="407736"/>
            <a:ext cx="3288697" cy="25167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B06CE6-0087-F5F3-F0F6-67A662B34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6480" y="833247"/>
            <a:ext cx="4145093" cy="41825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2E01DF-8F49-1ABD-9A7D-3C3651318A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52" y="4071027"/>
            <a:ext cx="7557228" cy="2516778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6117D586-5A9C-B58F-EF14-8E36B88A3DEA}"/>
              </a:ext>
            </a:extLst>
          </p:cNvPr>
          <p:cNvSpPr/>
          <p:nvPr/>
        </p:nvSpPr>
        <p:spPr>
          <a:xfrm>
            <a:off x="3945467" y="3039533"/>
            <a:ext cx="491066" cy="787400"/>
          </a:xfrm>
          <a:prstGeom prst="down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1288FE-ACCB-4FE3-B53A-570F33CCC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63A2-8410-4290-AC7F-71ED325F0D14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345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C19ADB-C7FE-D823-47A3-99E5F8A0B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333" y="299781"/>
            <a:ext cx="5799668" cy="24165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9513CC-6D50-0236-69FD-4669799DA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6978" y="390785"/>
            <a:ext cx="5376033" cy="24165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A84B53-FEAA-F768-55A1-41A3A28780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333" y="2986730"/>
            <a:ext cx="5681718" cy="8845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1B7D61-809F-5333-29FD-D1BFE8BE650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860" r="8979"/>
          <a:stretch/>
        </p:blipFill>
        <p:spPr>
          <a:xfrm>
            <a:off x="360125" y="3845869"/>
            <a:ext cx="5554134" cy="1367799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D2AF8AA-8943-FC3D-BFDA-46B1924D0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63A2-8410-4290-AC7F-71ED325F0D14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441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94C757-32CB-B00F-3A11-1DA22BD8C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817" y="2065397"/>
            <a:ext cx="4583651" cy="27272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C492B4-B20A-6729-7F2A-1181AD25A9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66" y="1038946"/>
            <a:ext cx="6435118" cy="29573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7C1D17-59CC-5777-7EAD-2817B70675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266" y="3979323"/>
            <a:ext cx="6163734" cy="1693927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729A67-B952-884F-86F0-64FD36DB1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63A2-8410-4290-AC7F-71ED325F0D1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610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380419-24DA-3011-AB18-2209A3865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947" y="334644"/>
            <a:ext cx="5165787" cy="27833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BEF6995-0168-D680-EDF5-869A33C7D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817" y="2065397"/>
            <a:ext cx="4583651" cy="27272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E632F6-80E8-20EF-5EAA-EF5A76DA24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4214" y="3873747"/>
            <a:ext cx="5106520" cy="2649609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4FCAB6-4778-4D78-5E9C-23E0C962F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63A2-8410-4290-AC7F-71ED325F0D14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38587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1F9E39-74FF-58CF-644C-C19715E8F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63A2-8410-4290-AC7F-71ED325F0D14}" type="slidenum">
              <a:rPr lang="en-IN" smtClean="0"/>
              <a:t>15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63C2CD-2551-514E-2F82-5CDCB5C45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05" y="100542"/>
            <a:ext cx="4728161" cy="66209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1CD96A8F-B66C-77F1-7C0F-7DA628C3C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1208" y="973665"/>
            <a:ext cx="5222746" cy="5088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6246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751</Words>
  <Application>Microsoft Office PowerPoint</Application>
  <PresentationFormat>Widescreen</PresentationFormat>
  <Paragraphs>186</Paragraphs>
  <Slides>15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Comic Sans MS</vt:lpstr>
      <vt:lpstr>Times </vt:lpstr>
      <vt:lpstr>Times New Roman</vt:lpstr>
      <vt:lpstr>Office Theme</vt:lpstr>
      <vt:lpstr>Decision Tree</vt:lpstr>
      <vt:lpstr>Decision Trees</vt:lpstr>
      <vt:lpstr>Decision Trees</vt:lpstr>
      <vt:lpstr>Tree Structure: Root Node</vt:lpstr>
      <vt:lpstr> Internal &amp; Leaf Nodes</vt:lpstr>
      <vt:lpstr>PowerPoint Presentation</vt:lpstr>
      <vt:lpstr>DT: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Manish patel</dc:creator>
  <cp:lastModifiedBy>Manish patel</cp:lastModifiedBy>
  <cp:revision>13</cp:revision>
  <dcterms:created xsi:type="dcterms:W3CDTF">2024-06-09T02:14:17Z</dcterms:created>
  <dcterms:modified xsi:type="dcterms:W3CDTF">2024-06-09T03:49:05Z</dcterms:modified>
</cp:coreProperties>
</file>